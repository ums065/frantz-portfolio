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7724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STUDENT IMPACT</a:t>
            </a:r>
            <a:br/>
            <a: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536192"/>
            <a:ext cx="1920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D9B24C"/>
                </a:solidFill>
                <a:latin typeface="Aptos"/>
              </a:rPr>
              <a:t>(S.I.C.)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816352"/>
            <a:ext cx="7955279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7ED957"/>
                </a:solidFill>
                <a:latin typeface="Aptos"/>
              </a:rPr>
              <a:t>HELP BUILD THE NEXT GENERATION</a:t>
            </a:r>
            <a:br/>
            <a:r>
              <a:t>OF PROBLEM-SOLVERS.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B2B9C1"/>
                </a:solidFill>
                <a:latin typeface="Aptos"/>
              </a:rPr>
              <a:t>Corporate Partnership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6217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LEAVE IT BETTER THAN YOU FOUND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>
                <a:solidFill>
                  <a:srgbClr val="D9B24C"/>
                </a:solidFill>
                <a:latin typeface="Aptos"/>
              </a:rPr>
              <a:t>STUDENT IMPACT CHALLENGE (S.I.C.)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6437376"/>
            <a:ext cx="5943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650" b="0">
                <a:solidFill>
                  <a:srgbClr val="B2B9C1"/>
                </a:solidFill>
                <a:latin typeface="Aptos"/>
              </a:rPr>
              <a:t>Presented and operated by TrendCatch Gives Back Inc., a 501(c)(3) nonprofit organization.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D9B24C"/>
                </a:solidFill>
                <a:latin typeface="Aptos"/>
              </a:rPr>
              <a:t>THE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7040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What if students didn't just</a:t>
            </a:r>
            <a:br/>
            <a:r>
              <a:t>learn about problems—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514600"/>
            <a:ext cx="80467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7ED957"/>
                </a:solidFill>
                <a:latin typeface="Aptos"/>
              </a:rPr>
              <a:t>but went into their communities</a:t>
            </a:r>
            <a:br/>
            <a:r>
              <a:t>and solved them?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251960"/>
            <a:ext cx="8138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B2B9C1"/>
                </a:solidFill>
                <a:latin typeface="Aptos"/>
              </a:rPr>
              <a:t>The Student Impact Challenge turns communities into classrooms and real problems into opportunities to build confidence, leadership and practical skills.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>
                <a:solidFill>
                  <a:srgbClr val="D9B24C"/>
                </a:solidFill>
                <a:latin typeface="Aptos"/>
              </a:rPr>
              <a:t>STUDENT IMPACT CHALLENGE (S.I.C.)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6437376"/>
            <a:ext cx="5943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650" b="0">
                <a:solidFill>
                  <a:srgbClr val="B2B9C1"/>
                </a:solidFill>
                <a:latin typeface="Aptos"/>
              </a:rPr>
              <a:t>Presented and operated by TrendCatch Gives Back Inc., a 501(c)(3) nonprofit organization.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D9B24C"/>
                </a:solidFill>
                <a:latin typeface="Aptos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484632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REAL PEOPLE.</a:t>
            </a:r>
            <a:br/>
            <a:r>
              <a:t>REAL PROBLEMS.</a:t>
            </a:r>
            <a:br/>
            <a:r>
              <a:t>REAL SOLUTIONS.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1051560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ED957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5156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ENGAGE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80743"/>
            <a:ext cx="4389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B2B9C1"/>
                </a:solidFill>
                <a:latin typeface="Aptos"/>
              </a:rPr>
              <a:t>Businesses &amp; community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2130552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ED957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30552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IDENTIFY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459736"/>
            <a:ext cx="4389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B2B9C1"/>
                </a:solidFill>
                <a:latin typeface="Aptos"/>
              </a:rPr>
              <a:t>Problems worth solving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3209544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ED957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209544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CREATE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538727"/>
            <a:ext cx="4389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B2B9C1"/>
                </a:solidFill>
                <a:latin typeface="Aptos"/>
              </a:rPr>
              <a:t>Practical solutions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4288536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7ED957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288536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PRESENT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617720"/>
            <a:ext cx="4389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B2B9C1"/>
                </a:solidFill>
                <a:latin typeface="Aptos"/>
              </a:rPr>
              <a:t>Ideas with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>
                <a:solidFill>
                  <a:srgbClr val="D9B24C"/>
                </a:solidFill>
                <a:latin typeface="Aptos"/>
              </a:rPr>
              <a:t>STUDENT IMPACT CHALLENGE (S.I.C.)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6437376"/>
            <a:ext cx="5943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650" b="0">
                <a:solidFill>
                  <a:srgbClr val="B2B9C1"/>
                </a:solidFill>
                <a:latin typeface="Aptos"/>
              </a:rPr>
              <a:t>Presented and operated by TrendCatch Gives Back Inc., a 501(c)(3) nonprofit organization.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D9B24C"/>
                </a:solidFill>
                <a:latin typeface="Aptos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8686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Students need more than information.</a:t>
            </a:r>
            <a:br/>
            <a:r>
              <a:t>They need experience.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3337560" cy="731520"/>
          </a:xfrm>
          <a:prstGeom prst="roundRect">
            <a:avLst/>
          </a:prstGeom>
          <a:solidFill>
            <a:srgbClr val="14181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2898648"/>
            <a:ext cx="3017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7ED957"/>
                </a:solidFill>
                <a:latin typeface="Aptos"/>
              </a:rPr>
              <a:t>LEADERSHIP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743200"/>
            <a:ext cx="3337560" cy="731520"/>
          </a:xfrm>
          <a:prstGeom prst="roundRect">
            <a:avLst/>
          </a:prstGeom>
          <a:solidFill>
            <a:srgbClr val="14181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2898648"/>
            <a:ext cx="3017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7ED957"/>
                </a:solidFill>
                <a:latin typeface="Aptos"/>
              </a:rPr>
              <a:t>ENTREPRENEURSHIP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2743200"/>
            <a:ext cx="3337560" cy="731520"/>
          </a:xfrm>
          <a:prstGeom prst="roundRect">
            <a:avLst/>
          </a:prstGeom>
          <a:solidFill>
            <a:srgbClr val="14181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1" y="2898648"/>
            <a:ext cx="3017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7ED957"/>
                </a:solidFill>
                <a:latin typeface="Aptos"/>
              </a:rPr>
              <a:t>COMMUNICATION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86200"/>
            <a:ext cx="3337560" cy="731520"/>
          </a:xfrm>
          <a:prstGeom prst="roundRect">
            <a:avLst/>
          </a:prstGeom>
          <a:solidFill>
            <a:srgbClr val="14181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041648"/>
            <a:ext cx="3017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9B24C"/>
                </a:solidFill>
                <a:latin typeface="Aptos"/>
              </a:rPr>
              <a:t>AI &amp; DIGITAL READINESS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886200"/>
            <a:ext cx="3337560" cy="731520"/>
          </a:xfrm>
          <a:prstGeom prst="roundRect">
            <a:avLst/>
          </a:prstGeom>
          <a:solidFill>
            <a:srgbClr val="14181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4041648"/>
            <a:ext cx="3017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9B24C"/>
                </a:solidFill>
                <a:latin typeface="Aptos"/>
              </a:rPr>
              <a:t>FINANCIAL UNDERSTANDING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3886200"/>
            <a:ext cx="3337560" cy="731520"/>
          </a:xfrm>
          <a:prstGeom prst="roundRect">
            <a:avLst/>
          </a:prstGeom>
          <a:solidFill>
            <a:srgbClr val="14181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1" y="4041648"/>
            <a:ext cx="3017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9B24C"/>
                </a:solidFill>
                <a:latin typeface="Aptos"/>
              </a:rPr>
              <a:t>WORKFORCE 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>
                <a:solidFill>
                  <a:srgbClr val="D9B24C"/>
                </a:solidFill>
                <a:latin typeface="Aptos"/>
              </a:rPr>
              <a:t>STUDENT IMPACT CHALLENGE (S.I.C.)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6437376"/>
            <a:ext cx="5943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650" b="0">
                <a:solidFill>
                  <a:srgbClr val="B2B9C1"/>
                </a:solidFill>
                <a:latin typeface="Aptos"/>
              </a:rPr>
              <a:t>Presented and operated by TrendCatch Gives Back Inc., a 501(c)(3) nonprofit organization.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D9B24C"/>
                </a:solidFill>
                <a:latin typeface="Aptos"/>
              </a:rPr>
              <a:t>HOW IT WORKS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2057400"/>
            <a:ext cx="566928" cy="566928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12264"/>
            <a:ext cx="5669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0C0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0"/>
            <a:ext cx="10241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REGISTER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322576"/>
            <a:ext cx="822960" cy="22860"/>
          </a:xfrm>
          <a:prstGeom prst="rect">
            <a:avLst/>
          </a:prstGeom>
          <a:solidFill>
            <a:srgbClr val="B2B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47672" y="2057400"/>
            <a:ext cx="566928" cy="566928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47672" y="2112264"/>
            <a:ext cx="5669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0C0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9072" y="2743200"/>
            <a:ext cx="10241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EXPLORE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42032" y="2322576"/>
            <a:ext cx="822960" cy="22860"/>
          </a:xfrm>
          <a:prstGeom prst="rect">
            <a:avLst/>
          </a:prstGeom>
          <a:solidFill>
            <a:srgbClr val="B2B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92424" y="2057400"/>
            <a:ext cx="566928" cy="566928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2112264"/>
            <a:ext cx="5669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0C0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2743200"/>
            <a:ext cx="10241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INTERVIEW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86784" y="2322576"/>
            <a:ext cx="822960" cy="22860"/>
          </a:xfrm>
          <a:prstGeom prst="rect">
            <a:avLst/>
          </a:prstGeom>
          <a:solidFill>
            <a:srgbClr val="B2B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37176" y="2057400"/>
            <a:ext cx="566928" cy="566928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37176" y="2112264"/>
            <a:ext cx="5669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0C0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743200"/>
            <a:ext cx="10241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IDENTIFY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31536" y="2322576"/>
            <a:ext cx="822960" cy="22860"/>
          </a:xfrm>
          <a:prstGeom prst="rect">
            <a:avLst/>
          </a:prstGeom>
          <a:solidFill>
            <a:srgbClr val="B2B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81928" y="2057400"/>
            <a:ext cx="566928" cy="566928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2112264"/>
            <a:ext cx="5669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0C0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2743200"/>
            <a:ext cx="10241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SOLVE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76288" y="2322576"/>
            <a:ext cx="822960" cy="22860"/>
          </a:xfrm>
          <a:prstGeom prst="rect">
            <a:avLst/>
          </a:prstGeom>
          <a:solidFill>
            <a:srgbClr val="B2B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26680" y="2057400"/>
            <a:ext cx="566928" cy="566928"/>
          </a:xfrm>
          <a:prstGeom prst="ellipse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80" y="2112264"/>
            <a:ext cx="5669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0C0F"/>
                </a:solidFill>
                <a:latin typeface="Apto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2743200"/>
            <a:ext cx="10241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SUBMIT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322576"/>
            <a:ext cx="822960" cy="22860"/>
          </a:xfrm>
          <a:prstGeom prst="rect">
            <a:avLst/>
          </a:prstGeom>
          <a:solidFill>
            <a:srgbClr val="B2B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71432" y="2057400"/>
            <a:ext cx="566928" cy="566928"/>
          </a:xfrm>
          <a:prstGeom prst="ellipse">
            <a:avLst/>
          </a:prstGeom>
          <a:solidFill>
            <a:srgbClr val="D9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71432" y="2112264"/>
            <a:ext cx="5669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0C0F"/>
                </a:solidFill>
                <a:latin typeface="Apto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2832" y="2743200"/>
            <a:ext cx="10241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JUDGING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65792" y="2322576"/>
            <a:ext cx="822960" cy="22860"/>
          </a:xfrm>
          <a:prstGeom prst="rect">
            <a:avLst/>
          </a:prstGeom>
          <a:solidFill>
            <a:srgbClr val="B2B9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16184" y="2057400"/>
            <a:ext cx="566928" cy="566928"/>
          </a:xfrm>
          <a:prstGeom prst="ellipse">
            <a:avLst/>
          </a:prstGeom>
          <a:solidFill>
            <a:srgbClr val="D9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16184" y="2112264"/>
            <a:ext cx="5669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A0C0F"/>
                </a:solidFill>
                <a:latin typeface="Aptos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87584" y="2743200"/>
            <a:ext cx="102412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WINNERS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069080"/>
            <a:ext cx="7132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A structured journey from curiosity to action.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4736592"/>
            <a:ext cx="8961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B2B9C1"/>
                </a:solidFill>
                <a:latin typeface="Aptos"/>
              </a:rPr>
              <a:t>Students learn by doing—and finish with something they can explain, defend and be proud of.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>
                <a:solidFill>
                  <a:srgbClr val="D9B24C"/>
                </a:solidFill>
                <a:latin typeface="Aptos"/>
              </a:rPr>
              <a:t>STUDENT IMPACT CHALLENGE (S.I.C.)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0" y="6437376"/>
            <a:ext cx="5943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650" b="0">
                <a:solidFill>
                  <a:srgbClr val="B2B9C1"/>
                </a:solidFill>
                <a:latin typeface="Aptos"/>
              </a:rPr>
              <a:t>Presented and operated by TrendCatch Gives Back Inc., a 501(c)(3) nonprofit organization.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D9B24C"/>
                </a:solidFill>
                <a:latin typeface="Aptos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4114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D9B24C"/>
                </a:solidFill>
                <a:latin typeface="Aptos"/>
              </a:rPr>
              <a:t>$100,000+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29968"/>
            <a:ext cx="47548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IN SCHOLARSHIPS,</a:t>
            </a:r>
            <a:br/>
            <a:r>
              <a:t>CASH &amp; PRIZES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5029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B2B9C1"/>
                </a:solidFill>
                <a:latin typeface="Aptos"/>
              </a:rPr>
              <a:t>A platform designed to create opportunity for students while recognizing teachers, schools and community impact.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234440"/>
            <a:ext cx="2377440" cy="1325880"/>
          </a:xfrm>
          <a:prstGeom prst="roundRect">
            <a:avLst/>
          </a:prstGeom>
          <a:solidFill>
            <a:srgbClr val="14181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7ED957"/>
                </a:solidFill>
                <a:latin typeface="Aptos"/>
              </a:rPr>
              <a:t>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92808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B2B9C1"/>
                </a:solidFill>
                <a:latin typeface="Aptos"/>
              </a:rPr>
              <a:t>Opportunity &amp; recognition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234440"/>
            <a:ext cx="2377440" cy="1325880"/>
          </a:xfrm>
          <a:prstGeom prst="roundRect">
            <a:avLst/>
          </a:prstGeom>
          <a:solidFill>
            <a:srgbClr val="14181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463040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7ED957"/>
                </a:solidFill>
                <a:latin typeface="Aptos"/>
              </a:rPr>
              <a:t>TEACHERS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892808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B2B9C1"/>
                </a:solidFill>
                <a:latin typeface="Aptos"/>
              </a:rPr>
              <a:t>Engagement &amp; recognition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3063240"/>
            <a:ext cx="2377440" cy="1325880"/>
          </a:xfrm>
          <a:prstGeom prst="roundRect">
            <a:avLst/>
          </a:prstGeom>
          <a:solidFill>
            <a:srgbClr val="14181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3291840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7ED957"/>
                </a:solidFill>
                <a:latin typeface="Aptos"/>
              </a:rPr>
              <a:t>SCHOOLS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721608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B2B9C1"/>
                </a:solidFill>
                <a:latin typeface="Aptos"/>
              </a:rPr>
              <a:t>Participation &amp;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3063240"/>
            <a:ext cx="2377440" cy="1325880"/>
          </a:xfrm>
          <a:prstGeom prst="roundRect">
            <a:avLst/>
          </a:prstGeom>
          <a:solidFill>
            <a:srgbClr val="14181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3291840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7ED957"/>
                </a:solidFill>
                <a:latin typeface="Aptos"/>
              </a:rPr>
              <a:t>COMMUNITIES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721608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B2B9C1"/>
                </a:solidFill>
                <a:latin typeface="Aptos"/>
              </a:rPr>
              <a:t>Problems &amp; solutions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>
                <a:solidFill>
                  <a:srgbClr val="D9B24C"/>
                </a:solidFill>
                <a:latin typeface="Aptos"/>
              </a:rPr>
              <a:t>STUDENT IMPACT CHALLENGE (S.I.C.)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6437376"/>
            <a:ext cx="5943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650" b="0">
                <a:solidFill>
                  <a:srgbClr val="B2B9C1"/>
                </a:solidFill>
                <a:latin typeface="Aptos"/>
              </a:rPr>
              <a:t>Presented and operated by TrendCatch Gives Back Inc., a 501(c)(3) nonprofit organization.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5029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D9B24C"/>
                </a:solidFill>
                <a:latin typeface="Aptos"/>
              </a:rPr>
              <a:t>WHERE CORPORATE PARTNERS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9601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DON'T JUST SPONSOR THE CHALLENGE.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9601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7ED957"/>
                </a:solidFill>
                <a:latin typeface="Aptos"/>
              </a:rPr>
              <a:t>Bring your expertise into the student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423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Education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19" y="3383280"/>
            <a:ext cx="1783080" cy="32004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2880360"/>
            <a:ext cx="2423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Entrepreneurship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3383280"/>
            <a:ext cx="1783080" cy="32004"/>
          </a:xfrm>
          <a:prstGeom prst="rect">
            <a:avLst/>
          </a:prstGeom>
          <a:solidFill>
            <a:srgbClr val="D9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880360"/>
            <a:ext cx="2423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AI &amp; 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59" y="3383280"/>
            <a:ext cx="1783080" cy="32004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39" y="2880360"/>
            <a:ext cx="2423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Financial Literacy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79" y="3383280"/>
            <a:ext cx="1783080" cy="32004"/>
          </a:xfrm>
          <a:prstGeom prst="rect">
            <a:avLst/>
          </a:prstGeom>
          <a:solidFill>
            <a:srgbClr val="D9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Workforce Development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19" y="4526280"/>
            <a:ext cx="1783080" cy="32004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4023360"/>
            <a:ext cx="2423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Career Exposure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4526280"/>
            <a:ext cx="1783080" cy="32004"/>
          </a:xfrm>
          <a:prstGeom prst="rect">
            <a:avLst/>
          </a:prstGeom>
          <a:solidFill>
            <a:srgbClr val="D9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4023360"/>
            <a:ext cx="2423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Community Impact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59" y="4526280"/>
            <a:ext cx="1783080" cy="32004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39" y="4023360"/>
            <a:ext cx="24231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Creativity &amp; Media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79" y="4526280"/>
            <a:ext cx="1783080" cy="32004"/>
          </a:xfrm>
          <a:prstGeom prst="rect">
            <a:avLst/>
          </a:prstGeom>
          <a:solidFill>
            <a:srgbClr val="D9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>
                <a:solidFill>
                  <a:srgbClr val="D9B24C"/>
                </a:solidFill>
                <a:latin typeface="Aptos"/>
              </a:rPr>
              <a:t>STUDENT IMPACT CHALLENGE (S.I.C.)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6437376"/>
            <a:ext cx="5943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650" b="0">
                <a:solidFill>
                  <a:srgbClr val="B2B9C1"/>
                </a:solidFill>
                <a:latin typeface="Aptos"/>
              </a:rPr>
              <a:t>Presented and operated by TrendCatch Gives Back Inc., a 501(c)(3) nonprofit organization.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D9B24C"/>
                </a:solidFill>
                <a:latin typeface="Aptos"/>
              </a:rPr>
              <a:t>PARTNERSHIP POSSIBILITIES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37560" cy="1417320"/>
          </a:xfrm>
          <a:prstGeom prst="roundRect">
            <a:avLst/>
          </a:prstGeom>
          <a:solidFill>
            <a:srgbClr val="14181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55448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7ED957"/>
                </a:solidFill>
                <a:latin typeface="Aptos"/>
              </a:rPr>
              <a:t>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39112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Financial capability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337560" cy="1417320"/>
          </a:xfrm>
          <a:prstGeom prst="roundRect">
            <a:avLst/>
          </a:prstGeom>
          <a:solidFill>
            <a:srgbClr val="14181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55448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7ED957"/>
                </a:solidFill>
                <a:latin typeface="Aptos"/>
              </a:rPr>
              <a:t>TECH &amp;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039112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Future skills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25880"/>
            <a:ext cx="3337560" cy="1417320"/>
          </a:xfrm>
          <a:prstGeom prst="roundRect">
            <a:avLst/>
          </a:prstGeom>
          <a:solidFill>
            <a:srgbClr val="14181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55448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7ED957"/>
                </a:solidFill>
                <a:latin typeface="Aptos"/>
              </a:rPr>
              <a:t>HEALTHCARE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039112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Career exposure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83280"/>
            <a:ext cx="3337560" cy="1417320"/>
          </a:xfrm>
          <a:prstGeom prst="roundRect">
            <a:avLst/>
          </a:prstGeom>
          <a:solidFill>
            <a:srgbClr val="14181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61188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9B24C"/>
                </a:solidFill>
                <a:latin typeface="Aptos"/>
              </a:rPr>
              <a:t>AIRLINES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096512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Aviation &amp; workforce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383280"/>
            <a:ext cx="3337560" cy="1417320"/>
          </a:xfrm>
          <a:prstGeom prst="roundRect">
            <a:avLst/>
          </a:prstGeom>
          <a:solidFill>
            <a:srgbClr val="14181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1188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9B24C"/>
                </a:solidFill>
                <a:latin typeface="Aptos"/>
              </a:rPr>
              <a:t>RETAIL / CPG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096512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Community &amp; families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383280"/>
            <a:ext cx="3337560" cy="1417320"/>
          </a:xfrm>
          <a:prstGeom prst="roundRect">
            <a:avLst/>
          </a:prstGeom>
          <a:solidFill>
            <a:srgbClr val="14181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611880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9B24C"/>
                </a:solidFill>
                <a:latin typeface="Aptos"/>
              </a:rPr>
              <a:t>MEDIA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096512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Storytelling &amp; creativity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B2B9C1"/>
                </a:solidFill>
                <a:latin typeface="Aptos"/>
              </a:rPr>
              <a:t>One mission. Different ways for each industry to create meaningful student opportunity.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>
                <a:solidFill>
                  <a:srgbClr val="D9B24C"/>
                </a:solidFill>
                <a:latin typeface="Aptos"/>
              </a:rPr>
              <a:t>STUDENT IMPACT CHALLENGE (S.I.C.)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6437376"/>
            <a:ext cx="5943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650" b="0">
                <a:solidFill>
                  <a:srgbClr val="B2B9C1"/>
                </a:solidFill>
                <a:latin typeface="Aptos"/>
              </a:rPr>
              <a:t>Presented and operated by TrendCatch Gives Back Inc., a 501(c)(3) nonprofit organization.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D9B24C"/>
                </a:solidFill>
                <a:latin typeface="Aptos"/>
              </a:rPr>
              <a:t>EMPLOYEE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Your people can become part of the learning.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3291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ED957"/>
                </a:solidFill>
                <a:latin typeface="Aptos"/>
              </a:rPr>
              <a:t>MENTORS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B2B9C1"/>
                </a:solidFill>
                <a:latin typeface="Aptos"/>
              </a:rPr>
              <a:t>Share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2331720"/>
            <a:ext cx="3291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ED957"/>
                </a:solidFill>
                <a:latin typeface="Aptos"/>
              </a:rPr>
              <a:t>JUDGES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743200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B2B9C1"/>
                </a:solidFill>
                <a:latin typeface="Aptos"/>
              </a:rPr>
              <a:t>Evaluate ideas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331720"/>
            <a:ext cx="3291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ED957"/>
                </a:solidFill>
                <a:latin typeface="Aptos"/>
              </a:rPr>
              <a:t>SPEAKERS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743200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B2B9C1"/>
                </a:solidFill>
                <a:latin typeface="Aptos"/>
              </a:rPr>
              <a:t>Open career pathways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79"/>
            <a:ext cx="3291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ED957"/>
                </a:solidFill>
                <a:latin typeface="Aptos"/>
              </a:rPr>
              <a:t>EXPERTS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51959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B2B9C1"/>
                </a:solidFill>
                <a:latin typeface="Aptos"/>
              </a:rPr>
              <a:t>Teach real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840479"/>
            <a:ext cx="3291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ED957"/>
                </a:solidFill>
                <a:latin typeface="Aptos"/>
              </a:rPr>
              <a:t>HOSTS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251959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B2B9C1"/>
                </a:solidFill>
                <a:latin typeface="Aptos"/>
              </a:rPr>
              <a:t>Create experiences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840479"/>
            <a:ext cx="3291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ED957"/>
                </a:solidFill>
                <a:latin typeface="Aptos"/>
              </a:rPr>
              <a:t>VOLUNTEERS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251959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B2B9C1"/>
                </a:solidFill>
                <a:latin typeface="Aptos"/>
              </a:rPr>
              <a:t>Support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>
                <a:solidFill>
                  <a:srgbClr val="D9B24C"/>
                </a:solidFill>
                <a:latin typeface="Aptos"/>
              </a:rPr>
              <a:t>STUDENT IMPACT CHALLENGE (S.I.C.)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6437376"/>
            <a:ext cx="5943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650" b="0">
                <a:solidFill>
                  <a:srgbClr val="B2B9C1"/>
                </a:solidFill>
                <a:latin typeface="Aptos"/>
              </a:rPr>
              <a:t>Presented and operated by TrendCatch Gives Back Inc., a 501(c)(3) nonprofit organization.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D9B24C"/>
                </a:solidFill>
                <a:latin typeface="Aptos"/>
              </a:rPr>
              <a:t>PARTNERSHIP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74980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Built around impact—not logo size.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240280"/>
            <a:ext cx="1993392" cy="1965960"/>
          </a:xfrm>
          <a:prstGeom prst="roundRect">
            <a:avLst/>
          </a:prstGeom>
          <a:solidFill>
            <a:srgbClr val="14181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606040"/>
            <a:ext cx="18105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D9B24C"/>
                </a:solidFill>
                <a:latin typeface="Aptos"/>
              </a:rPr>
              <a:t>$25K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246120"/>
            <a:ext cx="181051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COMMUNITY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2240280"/>
            <a:ext cx="1993392" cy="1965960"/>
          </a:xfrm>
          <a:prstGeom prst="roundRect">
            <a:avLst/>
          </a:prstGeom>
          <a:solidFill>
            <a:srgbClr val="14181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606040"/>
            <a:ext cx="18105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D9B24C"/>
                </a:solidFill>
                <a:latin typeface="Aptos"/>
              </a:rPr>
              <a:t>$50K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246120"/>
            <a:ext cx="181051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SUPPORTING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2352" y="2240280"/>
            <a:ext cx="1993392" cy="1965960"/>
          </a:xfrm>
          <a:prstGeom prst="roundRect">
            <a:avLst/>
          </a:prstGeom>
          <a:solidFill>
            <a:srgbClr val="14181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3792" y="2606040"/>
            <a:ext cx="18105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7ED957"/>
                </a:solidFill>
                <a:latin typeface="Aptos"/>
              </a:rPr>
              <a:t>$100K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3246120"/>
            <a:ext cx="181051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MAJOR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0063" y="2240280"/>
            <a:ext cx="1993392" cy="1965960"/>
          </a:xfrm>
          <a:prstGeom prst="roundRect">
            <a:avLst/>
          </a:prstGeom>
          <a:solidFill>
            <a:srgbClr val="14181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61503" y="2606040"/>
            <a:ext cx="18105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7ED957"/>
                </a:solidFill>
                <a:latin typeface="Aptos"/>
              </a:rPr>
              <a:t>$150K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1503" y="3246120"/>
            <a:ext cx="181051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LEADERSHIP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7776" y="2240280"/>
            <a:ext cx="1993392" cy="1965960"/>
          </a:xfrm>
          <a:prstGeom prst="roundRect">
            <a:avLst/>
          </a:prstGeom>
          <a:solidFill>
            <a:srgbClr val="14181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9215" y="2606040"/>
            <a:ext cx="18105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7ED957"/>
                </a:solidFill>
                <a:latin typeface="Aptos"/>
              </a:rPr>
              <a:t>$250K+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9215" y="3246120"/>
            <a:ext cx="181051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FOUNDING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9204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B2B9C1"/>
                </a:solidFill>
                <a:latin typeface="Aptos"/>
              </a:rPr>
              <a:t>Partnerships can be customized around company expertise, priorities and program needs.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>
                <a:solidFill>
                  <a:srgbClr val="D9B24C"/>
                </a:solidFill>
                <a:latin typeface="Aptos"/>
              </a:rPr>
              <a:t>STUDENT IMPACT CHALLENGE (S.I.C.)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6437376"/>
            <a:ext cx="5943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650" b="0">
                <a:solidFill>
                  <a:srgbClr val="B2B9C1"/>
                </a:solidFill>
                <a:latin typeface="Aptos"/>
              </a:rPr>
              <a:t>Presented and operated by TrendCatch Gives Back Inc., a 501(c)(3) nonprofit organization.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D9B24C"/>
                </a:solidFill>
                <a:latin typeface="Aptos"/>
              </a:rPr>
              <a:t>WHO IS BEHIND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47548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FOUNDED BY</a:t>
            </a:r>
            <a:br/>
            <a:r>
              <a:t>FRANTZ COUTARD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606040"/>
            <a:ext cx="5212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7ED957"/>
                </a:solidFill>
                <a:latin typeface="Aptos"/>
              </a:rPr>
              <a:t>Entrepreneur • Tech Innovator • Community Builder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246120"/>
            <a:ext cx="5257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B2B9C1"/>
                </a:solidFill>
                <a:latin typeface="Aptos"/>
              </a:rPr>
              <a:t>The Student Impact Challenge is presented and operated by TrendCatch Gives Back Inc., a 501(c)(3) nonprofit organization.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34440"/>
            <a:ext cx="4754880" cy="3474720"/>
          </a:xfrm>
          <a:prstGeom prst="roundRect">
            <a:avLst/>
          </a:prstGeom>
          <a:solidFill>
            <a:srgbClr val="14181D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55448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9B24C"/>
                </a:solidFill>
                <a:latin typeface="Aptos"/>
              </a:rPr>
              <a:t>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057400"/>
            <a:ext cx="39319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Give young people a reason to engage their communities, think like problem-solvers and create ideas that can make life better.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977639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ED957"/>
                </a:solidFill>
                <a:latin typeface="Aptos"/>
              </a:rPr>
              <a:t>LEAVE IT BETTER THAN YOU FOUND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1">
                <a:solidFill>
                  <a:srgbClr val="D9B24C"/>
                </a:solidFill>
                <a:latin typeface="Aptos"/>
              </a:rPr>
              <a:t>STUDENT IMPACT CHALLENGE (S.I.C.)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6437376"/>
            <a:ext cx="5943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650" b="0">
                <a:solidFill>
                  <a:srgbClr val="B2B9C1"/>
                </a:solidFill>
                <a:latin typeface="Aptos"/>
              </a:rPr>
              <a:t>Presented and operated by TrendCatch Gives Back Inc., a 501(c)(3) nonprofit organization.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ED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969264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HELP US BUILD THE NEXT</a:t>
            </a:r>
            <a:br/>
            <a:r>
              <a:t>GENERATION OF PROBLEM-SOLVERS.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880360"/>
            <a:ext cx="9784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B2B9C1"/>
                </a:solidFill>
                <a:latin typeface="Aptos"/>
              </a:rPr>
              <a:t>Let's create a partnership that gives students more than a prize—</a:t>
            </a:r>
            <a:br/>
            <a:r>
              <a:t>let's give them experience, confidence and opportunity.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25196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D9B24C"/>
                </a:solidFill>
                <a:latin typeface="Aptos"/>
              </a:rPr>
              <a:t>Frantz Coutard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599432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Founder, Student Impact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047488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ED957"/>
                </a:solidFill>
                <a:latin typeface="Aptos"/>
              </a:rPr>
              <a:t>FrantzCoutard.com  •  Info@frantzcoutard.com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206240"/>
            <a:ext cx="4572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Presented and operated by TrendCatch Gives Back Inc.</a:t>
            </a:r>
            <a:br/>
            <a:r>
              <a:t>a 501(c)(3) nonprofit organization.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516636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D9B24C"/>
                </a:solidFill>
                <a:latin typeface="Aptos"/>
              </a:rPr>
              <a:t>LEAVE IT BETTER THAN YOU FOUND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